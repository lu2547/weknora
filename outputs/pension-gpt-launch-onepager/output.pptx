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c39e01cda84b9d" /><Relationship Type="http://schemas.openxmlformats.org/officeDocument/2006/relationships/extended-properties" Target="/docProps/app.xml" Id="R220dd7979f9144b4" /><Relationship Type="http://schemas.openxmlformats.org/officeDocument/2006/relationships/officeDocument" Target="/ppt/presentation.xml" Id="R0ee79fdae91c45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9b444d2fe74d10"/>
  </p:sldMasterIdLst>
  <p:notesMasterIdLst>
    <p:notesMasterId xmlns:r="http://schemas.openxmlformats.org/officeDocument/2006/relationships" r:id="Raef2a8d7402a4f8c"/>
  </p:notesMasterIdLst>
  <p:sldIdLst>
    <p:sldId xmlns:r="http://schemas.openxmlformats.org/officeDocument/2006/relationships" id="256" r:id="R77565693c44446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b444d2fe74d10" /><Relationship Type="http://schemas.openxmlformats.org/officeDocument/2006/relationships/theme" Target="/ppt/theme/theme1.xml" Id="R3c34cca97b074602" /><Relationship Type="http://schemas.openxmlformats.org/officeDocument/2006/relationships/notesMaster" Target="/ppt/notesMasters/notesMaster1.xml" Id="Raef2a8d7402a4f8c" /><Relationship Type="http://schemas.openxmlformats.org/officeDocument/2006/relationships/presProps" Target="/ppt/presProps.xml" Id="Rfc101ec6d36b450f" /><Relationship Type="http://schemas.openxmlformats.org/officeDocument/2006/relationships/viewProps" Target="/ppt/viewProps.xml" Id="R490ab85e4d5346fd" /><Relationship Type="http://schemas.openxmlformats.org/officeDocument/2006/relationships/tableStyles" Target="/ppt/tableStyles.xml" Id="Rdf2902dcc38e4130" /><Relationship Type="http://schemas.openxmlformats.org/officeDocument/2006/relationships/slide" Target="/ppt/slides/slide1.xml" Id="R77565693c44446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09a7942d3342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21642b994542e3" /><Relationship Type="http://schemas.openxmlformats.org/officeDocument/2006/relationships/notesMaster" Target="/ppt/notesMasters/notesMaster1.xml" Id="R4af723faa4ac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ef20d7056470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580E20D-0950-4B60-B0F8-C34386BFBF09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AD0D324-3017-4E53-950A-0EE063ADAC9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A88070-AD87-4D91-9DE3-35221520E4D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3744E0-C811-497E-AC7B-8CE2DC399E1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B13012-581A-4F2C-ADA0-A2F99BCCA78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fdef1c8efcd47ed" /><Relationship Type="http://schemas.openxmlformats.org/officeDocument/2006/relationships/slideLayout" Target="/ppt/slideLayouts/slideLayout2.xml" Id="Raeef4c03ffec44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A7E7CE-FBB3-47F0-AF0E-04FB50B9228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ef4c03ffec44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c0e05308d14602" /><Relationship Type="http://schemas.openxmlformats.org/officeDocument/2006/relationships/notesSlide" Target="/ppt/notesSlides/notesSlide1.xml" Id="Rfe99c1b37c6643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B13012-581A-4F2C-ADA0-A2F99BCCA7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4BD73-B146-4AD6-BEFF-517C4CA9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6A33"/>
                </a:solidFill>
              </a:defRPr>
            </a:pPr>
            <a:r>
              <a:rPr sz="1200" b="1">
                <a:solidFill>
                  <a:srgbClr val="D96A33"/>
                </a:solidFill>
              </a:rPr>
              <a:t>FUNCTION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7C6B7-EDB0-49A1-8F61-E988B444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3B3F"/>
                </a:solidFill>
              </a:defRPr>
            </a:pPr>
            <a:r>
              <a:rPr sz="2400" b="1">
                <a:solidFill>
                  <a:srgbClr val="383B3F"/>
                </a:solidFill>
              </a:rPr>
              <a:t>养老险GPT首期上线功能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FC939-E7EB-40BA-8AFC-681D2FCD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42F"/>
          </a:solidFill>
          <a:ln xmlns:a="http://schemas.openxmlformats.org/drawingml/2006/main" w="0">
            <a:solidFill>
              <a:srgbClr val="D544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EFAD5-58B0-4111-986B-CC439451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A"/>
          </a:solidFill>
          <a:ln xmlns:a="http://schemas.openxmlformats.org/drawingml/2006/main" w="0">
            <a:solidFill>
              <a:srgbClr val="D8D1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6BC54-42B7-4F5F-A3EF-0D2CFD02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9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176"/>
                </a:solidFill>
              </a:defRPr>
            </a:pPr>
            <a:r>
              <a:rPr sz="1125" b="0">
                <a:solidFill>
                  <a:srgbClr val="6E7176"/>
                </a:solidFill>
              </a:rPr>
              <a:t>围绕养老险业务知识沉淀、共享协同与智能问答，已形成“知识入库 - 共享复用 - 智能推理 - 结果输出”的首期闭环。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87DAF-8F90-4096-9F10-1B83CD6D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191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7176"/>
                </a:solidFill>
              </a:defRPr>
            </a:pPr>
            <a:r>
              <a:rPr sz="1350" b="1">
                <a:solidFill>
                  <a:srgbClr val="6E717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1A321-5DB4-48C1-9520-EE0E508E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6A33"/>
                </a:solidFill>
              </a:defRPr>
            </a:pPr>
            <a:r>
              <a:rPr sz="1275" b="1">
                <a:solidFill>
                  <a:srgbClr val="D96A33"/>
                </a:solidFill>
              </a:rPr>
              <a:t>上层｜通用Agent业务能力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E06BA-64DF-4891-9A35-64D942B9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5812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1EC6E-EEE3-4913-AA92-EEA8E013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5812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42F"/>
          </a:solidFill>
          <a:ln xmlns:a="http://schemas.openxmlformats.org/drawingml/2006/main" w="0">
            <a:solidFill>
              <a:srgbClr val="D544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C2349-970A-489B-9D11-F6847BB8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5442F"/>
          </a:solidFill>
          <a:ln xmlns:a="http://schemas.openxmlformats.org/drawingml/2006/main" w="0">
            <a:solidFill>
              <a:srgbClr val="D544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71CCF-3EDC-4586-B98F-4544A588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F4BB8-386D-4CD6-8946-5A0CEC7A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90775"/>
            <a:ext cx="1838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3B3F"/>
                </a:solidFill>
              </a:defRPr>
            </a:pPr>
            <a:r>
              <a:rPr sz="1425" b="1">
                <a:solidFill>
                  <a:srgbClr val="383B3F"/>
                </a:solidFill>
              </a:rPr>
              <a:t>知识库问答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72F74-665E-47AF-9C17-481E2207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176"/>
                </a:solidFill>
              </a:defRPr>
            </a:pPr>
            <a:r>
              <a:rPr sz="1013" b="0">
                <a:solidFill>
                  <a:srgbClr val="6E7176"/>
                </a:solidFill>
              </a:rPr>
              <a:t>围绕养老险与年金知识，以自然语言提问，按选定知识库或多文档组合输出答案。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466B4-A154-4E69-A8E5-8B60897F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52650"/>
            <a:ext cx="25812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855EC-051E-4A28-AA6D-DC533830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52650"/>
            <a:ext cx="25812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A33"/>
          </a:solidFill>
          <a:ln xmlns:a="http://schemas.openxmlformats.org/drawingml/2006/main" w="0">
            <a:solidFill>
              <a:srgbClr val="D96A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CF99F-44DE-4A20-B100-DD6DD4BF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38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6A33"/>
          </a:solidFill>
          <a:ln xmlns:a="http://schemas.openxmlformats.org/drawingml/2006/main" w="0">
            <a:solidFill>
              <a:srgbClr val="D96A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DFBE7-2A9B-46AE-9881-390D26D1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86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1ABFA7-9FBE-40A8-91BB-411173F1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90775"/>
            <a:ext cx="1838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3B3F"/>
                </a:solidFill>
              </a:defRPr>
            </a:pPr>
            <a:r>
              <a:rPr sz="1425" b="1">
                <a:solidFill>
                  <a:srgbClr val="383B3F"/>
                </a:solidFill>
              </a:rPr>
              <a:t>文档比对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80241-4FF3-4E64-A60E-66923F2A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57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176"/>
                </a:solidFill>
              </a:defRPr>
            </a:pPr>
            <a:r>
              <a:rPr sz="1013" b="0">
                <a:solidFill>
                  <a:srgbClr val="6E7176"/>
                </a:solidFill>
              </a:rPr>
              <a:t>将合同、标书、制度与范本进行对比，自动识别差异条款和关键字段变化。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F0BBA-AE3B-48E1-ABC6-1FF0C2A2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25812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A4F827-9BDF-4942-84A5-5317A90F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25812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91F"/>
          </a:solidFill>
          <a:ln xmlns:a="http://schemas.openxmlformats.org/drawingml/2006/main" w="0">
            <a:solidFill>
              <a:srgbClr val="E789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16C9C-63EE-415F-8082-009B940D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891F"/>
          </a:solidFill>
          <a:ln xmlns:a="http://schemas.openxmlformats.org/drawingml/2006/main" w="0">
            <a:solidFill>
              <a:srgbClr val="E789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057B70-78F7-43D5-9776-4044931C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86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64607-456C-4BB2-9738-413B6D26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90775"/>
            <a:ext cx="1838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3B3F"/>
                </a:solidFill>
              </a:defRPr>
            </a:pPr>
            <a:r>
              <a:rPr sz="1425" b="1">
                <a:solidFill>
                  <a:srgbClr val="383B3F"/>
                </a:solidFill>
              </a:rPr>
              <a:t>要素提取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915811-4AD8-4679-9383-C8DD540F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176"/>
                </a:solidFill>
              </a:defRPr>
            </a:pPr>
            <a:r>
              <a:rPr sz="1013" b="0">
                <a:solidFill>
                  <a:srgbClr val="6E7176"/>
                </a:solidFill>
              </a:rPr>
              <a:t>从合同、报表、制度文件中抽取关键要素，沉淀结构化结果表。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AAE4A6-A801-48EE-899E-28BB778D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52650"/>
            <a:ext cx="25812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41FEB-B715-4D6F-9C42-E1E072F6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52650"/>
            <a:ext cx="25812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42F"/>
          </a:solidFill>
          <a:ln xmlns:a="http://schemas.openxmlformats.org/drawingml/2006/main" w="0">
            <a:solidFill>
              <a:srgbClr val="D544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18BDA-8DA0-47F2-9ECD-DA2BD4B1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38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5442F"/>
          </a:solidFill>
          <a:ln xmlns:a="http://schemas.openxmlformats.org/drawingml/2006/main" w="0">
            <a:solidFill>
              <a:srgbClr val="D544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FB217F-D341-42DC-8211-B29C68AC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86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069D1E-2752-4D6E-ADEE-7294D089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90775"/>
            <a:ext cx="1838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3B3F"/>
                </a:solidFill>
              </a:defRPr>
            </a:pPr>
            <a:r>
              <a:rPr sz="1425" b="1">
                <a:solidFill>
                  <a:srgbClr val="383B3F"/>
                </a:solidFill>
              </a:rPr>
              <a:t>文档审核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DC3D16-B5A7-4A6A-934C-015FDCD4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E7176"/>
                </a:solidFill>
              </a:defRPr>
            </a:pPr>
            <a:r>
              <a:rPr sz="1013" b="0">
                <a:solidFill>
                  <a:srgbClr val="6E7176"/>
                </a:solidFill>
              </a:rPr>
              <a:t>结合制度口径和标准范本，辅助发现缺项、异常和不一致表述。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8D4DB-863D-47DE-B39E-387AA4E0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5442F"/>
          </a:solidFill>
          <a:ln xmlns:a="http://schemas.openxmlformats.org/drawingml/2006/main" w="0">
            <a:solidFill>
              <a:srgbClr val="D544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59A2EF-A227-491F-8498-2220F0CB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14725"/>
            <a:ext cx="1021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基于知识库、共享协同、ReAct 推理与 RAG 增强，已具备从“能回答”到“能分析、能审核、能沉淀”的业务支撑能力。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1FF69E-9838-4980-B394-4AB98439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6A33"/>
                </a:solidFill>
              </a:defRPr>
            </a:pPr>
            <a:r>
              <a:rPr sz="1275" b="1">
                <a:solidFill>
                  <a:srgbClr val="D96A33"/>
                </a:solidFill>
              </a:rPr>
              <a:t>中层｜能力增强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35A0FF-63C1-4A2D-B8BF-5B6550C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4290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40F21C-052F-4A24-AB3B-DEFDA0AB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42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42F"/>
          </a:solidFill>
          <a:ln xmlns:a="http://schemas.openxmlformats.org/drawingml/2006/main" w="0">
            <a:solidFill>
              <a:srgbClr val="D5442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68743C-E6DB-4F0C-8F6D-3F19C351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5442F"/>
                </a:solidFill>
              </a:defRPr>
            </a:pPr>
            <a:r>
              <a:rPr sz="1575" b="1">
                <a:solidFill>
                  <a:srgbClr val="D5442F"/>
                </a:solidFill>
              </a:rPr>
              <a:t>知识库 + 共享空间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0BC719-96FF-4216-97A9-29A90543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E36"/>
          </a:solidFill>
          <a:ln xmlns:a="http://schemas.openxmlformats.org/drawingml/2006/main" w="0">
            <a:solidFill>
              <a:srgbClr val="E74E3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20BB67-F731-40E8-AE49-A22046F0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83B3F"/>
                </a:solidFill>
              </a:defRPr>
            </a:pPr>
            <a:r>
              <a:rPr sz="1013" b="0">
                <a:solidFill>
                  <a:srgbClr val="383B3F"/>
                </a:solidFill>
              </a:rPr>
              <a:t>已沉淀年金业务知识库，支持按专题分类管理。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8C1FF6-EAE0-4E68-896D-ED1173F8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E36"/>
          </a:solidFill>
          <a:ln xmlns:a="http://schemas.openxmlformats.org/drawingml/2006/main" w="0">
            <a:solidFill>
              <a:srgbClr val="E74E3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139365-A909-48C9-874D-5DD15DE7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83B3F"/>
                </a:solidFill>
              </a:defRPr>
            </a:pPr>
            <a:r>
              <a:rPr sz="1013" b="0">
                <a:solidFill>
                  <a:srgbClr val="383B3F"/>
                </a:solidFill>
              </a:rPr>
              <a:t>支持 Excel / PDF / Word / PPT 自动解析、摘要与分块预览。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16F5C1-EED1-42CA-AE74-91976529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E36"/>
          </a:solidFill>
          <a:ln xmlns:a="http://schemas.openxmlformats.org/drawingml/2006/main" w="0">
            <a:solidFill>
              <a:srgbClr val="E74E3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4E9130-85EA-4850-B7C2-62EBAC20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3880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83B3F"/>
                </a:solidFill>
              </a:defRPr>
            </a:pPr>
            <a:r>
              <a:rPr sz="1013" b="0">
                <a:solidFill>
                  <a:srgbClr val="383B3F"/>
                </a:solidFill>
              </a:rPr>
              <a:t>支持共享空间协作和管理员 / 编辑者 / 只读权限。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D24A22-B74A-459C-857D-14FF73C7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34290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7A7F48-B794-429C-974D-48D73F2A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342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A33"/>
          </a:solidFill>
          <a:ln xmlns:a="http://schemas.openxmlformats.org/drawingml/2006/main" w="0">
            <a:solidFill>
              <a:srgbClr val="D96A3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4B657B-0C58-46C5-8912-689A3ABD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6A33"/>
                </a:solidFill>
              </a:defRPr>
            </a:pPr>
            <a:r>
              <a:rPr sz="1575" b="1">
                <a:solidFill>
                  <a:srgbClr val="D96A33"/>
                </a:solidFill>
              </a:rPr>
              <a:t>ReAct 智能推理增强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F05209-E01D-45E1-9811-EC25FDB2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62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E36"/>
          </a:solidFill>
          <a:ln xmlns:a="http://schemas.openxmlformats.org/drawingml/2006/main" w="0">
            <a:solidFill>
              <a:srgbClr val="E74E3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04A22F-449E-4AF7-ACD2-D3D9D34B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9585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83B3F"/>
                </a:solidFill>
              </a:defRPr>
            </a:pPr>
            <a:r>
              <a:rPr sz="1013" b="0">
                <a:solidFill>
                  <a:srgbClr val="383B3F"/>
                </a:solidFill>
              </a:rPr>
              <a:t>快速问答 + 智能推理双模式，复杂任务进入多步推理。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8AFD6A-604C-4FA3-BB01-7B65334E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34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E36"/>
          </a:solidFill>
          <a:ln xmlns:a="http://schemas.openxmlformats.org/drawingml/2006/main" w="0">
            <a:solidFill>
              <a:srgbClr val="E74E3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B7A150-CCED-450E-AB99-42D0E378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67325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83B3F"/>
                </a:solidFill>
              </a:defRPr>
            </a:pPr>
            <a:r>
              <a:rPr sz="1013" b="0">
                <a:solidFill>
                  <a:srgbClr val="383B3F"/>
                </a:solidFill>
              </a:rPr>
              <a:t>Thinking 可视化，任务规划与执行步骤可追踪。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B00C7F-76B7-456C-9A23-BAC1DB28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05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E36"/>
          </a:solidFill>
          <a:ln xmlns:a="http://schemas.openxmlformats.org/drawingml/2006/main" w="0">
            <a:solidFill>
              <a:srgbClr val="E74E3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06BBB0-348B-4A02-B648-043B6BBE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3880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83B3F"/>
                </a:solidFill>
              </a:defRPr>
            </a:pPr>
            <a:r>
              <a:rPr sz="1013" b="0">
                <a:solidFill>
                  <a:srgbClr val="383B3F"/>
                </a:solidFill>
              </a:rPr>
              <a:t>Final Answer 结构化输出，多工具协同调用。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93546E-0E52-443F-B7A6-A7534B7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86250"/>
            <a:ext cx="34290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4A1BBD-8A3F-4B42-B645-CDA27DC4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86250"/>
            <a:ext cx="342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42F"/>
          </a:solidFill>
          <a:ln xmlns:a="http://schemas.openxmlformats.org/drawingml/2006/main" w="0">
            <a:solidFill>
              <a:srgbClr val="D5442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E27622-B42B-4AD9-8955-A2F89094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5442F"/>
                </a:solidFill>
              </a:defRPr>
            </a:pPr>
            <a:r>
              <a:rPr sz="1575" b="1">
                <a:solidFill>
                  <a:srgbClr val="D5442F"/>
                </a:solidFill>
              </a:rPr>
              <a:t>RAG 检索增强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FB20CA-4C67-458E-82C0-70E665C6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62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E36"/>
          </a:solidFill>
          <a:ln xmlns:a="http://schemas.openxmlformats.org/drawingml/2006/main" w="0">
            <a:solidFill>
              <a:srgbClr val="E74E3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6803D2-CCC1-4880-90DC-DC1E5BFA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9585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83B3F"/>
                </a:solidFill>
              </a:defRPr>
            </a:pPr>
            <a:r>
              <a:rPr sz="1013" b="0">
                <a:solidFill>
                  <a:srgbClr val="383B3F"/>
                </a:solidFill>
              </a:rPr>
              <a:t>问题改写 + 关键词 + 语义检索混合召回。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3C568C-E5DF-4CF6-A659-33F212D9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34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E36"/>
          </a:solidFill>
          <a:ln xmlns:a="http://schemas.openxmlformats.org/drawingml/2006/main" w="0">
            <a:solidFill>
              <a:srgbClr val="E74E3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0A8B10-02E4-4AB2-A7DA-E06D3106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67325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83B3F"/>
                </a:solidFill>
              </a:defRPr>
            </a:pPr>
            <a:r>
              <a:rPr sz="1013" b="0">
                <a:solidFill>
                  <a:srgbClr val="383B3F"/>
                </a:solidFill>
              </a:rPr>
              <a:t>支持 Rerank 重排、上下文合并和结果去重。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57537C-FBDB-41C4-AA03-66FF9B7D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05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E36"/>
          </a:solidFill>
          <a:ln xmlns:a="http://schemas.openxmlformats.org/drawingml/2006/main" w="0">
            <a:solidFill>
              <a:srgbClr val="E74E3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A672DE-F7C1-4247-ADA3-E3CD8B93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3880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83B3F"/>
                </a:solidFill>
              </a:defRPr>
            </a:pPr>
            <a:r>
              <a:rPr sz="1013" b="0">
                <a:solidFill>
                  <a:srgbClr val="383B3F"/>
                </a:solidFill>
              </a:rPr>
              <a:t>父子分块 + 引用回溯，结果可定位到知识依据。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8B1E11-2FB6-42F9-A010-3E7B9BDF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EE9"/>
          </a:solidFill>
          <a:ln xmlns:a="http://schemas.openxmlformats.org/drawingml/2006/main" w="0">
            <a:solidFill>
              <a:srgbClr val="F8EEE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FAA951-6C55-4A4C-A10C-0D84C1E9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72225"/>
            <a:ext cx="10439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383B3F"/>
                </a:solidFill>
              </a:defRPr>
            </a:pPr>
            <a:r>
              <a:rPr sz="1088" b="1">
                <a:solidFill>
                  <a:srgbClr val="383B3F"/>
                </a:solidFill>
              </a:rPr>
              <a:t>底层支撑：多格式文档解析入库｜权限与共享隔离｜检索与推理解耦｜更多知识与智能体可持续扩展</a:t>
            </a:r>
          </a:p>
        </p:txBody>
      </p:sp>
    </p:spTree>
    <p:extLst>
      <p:ext uri="{BB962C8B-B14F-4D97-AF65-F5344CB8AC3E}">
        <p14:creationId xmlns:p14="http://schemas.microsoft.com/office/powerpoint/2010/main" val="1463762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2026-04-27T04:00:26.2570000Z</dcterms:created>
  <dcterms:modified xsi:type="dcterms:W3CDTF">2026-04-27T04:00:26.2570000Z</dcterms:modified>
</coreProperties>
</file>